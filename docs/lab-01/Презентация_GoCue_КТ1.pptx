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techmo0/GoCue" TargetMode="External"/><Relationship Id="rId4" Type="http://schemas.openxmlformats.org/officeDocument/2006/relationships/hyperlink" Target="https://github.com/users/techmo0/projects/1/views/1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48" y="612648"/>
            <a:ext cx="1700784" cy="1380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15568" y="795528"/>
            <a:ext cx="850392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ФГБОУ ВО «СибАДИ» · Кафедра «Цифровые технологии»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115568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384"/>
                </a:solidFill>
                <a:latin typeface="Arial"/>
              </a:rPr>
              <a:t>Проектный практикум · 09.03.03 «Прикладная информатика» · 7 семестр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568" y="2221992"/>
            <a:ext cx="2697480" cy="356616"/>
          </a:xfrm>
          <a:prstGeom prst="roundRect">
            <a:avLst>
              <a:gd name="adj" fmla="val 12000"/>
            </a:avLst>
          </a:prstGeom>
          <a:solidFill>
            <a:srgbClr val="E2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21992"/>
            <a:ext cx="255117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Контрольная точка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88920"/>
            <a:ext cx="7132320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2B71B2"/>
                </a:solidFill>
                <a:latin typeface="Arial"/>
              </a:rPr>
              <a:t>GoCue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621024"/>
            <a:ext cx="85039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C364E"/>
                </a:solidFill>
                <a:latin typeface="Arial"/>
              </a:rPr>
              <a:t>Мобильное приложение для напоминаний о делах в подходящем месте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15568" y="5074920"/>
            <a:ext cx="10259568" cy="13716"/>
          </a:xfrm>
          <a:prstGeom prst="rect">
            <a:avLst/>
          </a:prstGeom>
          <a:solidFill>
            <a:srgbClr val="D7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5294376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384"/>
                </a:solidFill>
                <a:latin typeface="Arial"/>
              </a:rPr>
              <a:t>Команда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555955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03041"/>
                </a:solidFill>
                <a:latin typeface="Arial"/>
              </a:rPr>
              <a:t>«Диалог» · ПИб-23Э1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5294376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384"/>
                </a:solidFill>
                <a:latin typeface="Arial"/>
              </a:rPr>
              <a:t>Участники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5559552"/>
            <a:ext cx="5806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03041"/>
                </a:solidFill>
                <a:latin typeface="Arial"/>
              </a:rPr>
              <a:t>Бартоломей А. М. · Боровик Ф. И.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03041"/>
                </a:solidFill>
                <a:latin typeface="Arial"/>
              </a:rPr>
              <a:t>Золотилина Е. С. · Поспелова М. 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5559552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03041"/>
                </a:solidFill>
                <a:latin typeface="Arial"/>
              </a:rPr>
              <a:t>Омск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364E"/>
                </a:solidFill>
                <a:latin typeface="Arial"/>
              </a:rPr>
              <a:t>01 · О ПРОЕКТЕ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22376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B71B2"/>
                </a:solidFill>
                <a:latin typeface="Arial"/>
              </a:rPr>
              <a:t>Проблема, пользователи и решение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345936"/>
            <a:ext cx="813816" cy="4480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0" y="6382512"/>
            <a:ext cx="5943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384"/>
                </a:solidFill>
                <a:latin typeface="Arial"/>
              </a:rPr>
              <a:t>02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63624"/>
            <a:ext cx="3364992" cy="1792224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64792"/>
            <a:ext cx="29077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Проблема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185416"/>
            <a:ext cx="2907792" cy="1014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041"/>
                </a:solidFill>
                <a:latin typeface="Arial"/>
              </a:rPr>
              <a:t>О деле вспоминают после ухода из нужного места; список надо проверять самому.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1563624"/>
            <a:ext cx="3364992" cy="1792224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4296" y="1764792"/>
            <a:ext cx="29077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Пользователи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4296" y="2185416"/>
            <a:ext cx="2907792" cy="1014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041"/>
                </a:solidFill>
                <a:latin typeface="Arial"/>
              </a:rPr>
              <a:t>Люди с бытовыми поручениями: покупки, аптека, почта.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563624"/>
            <a:ext cx="3364992" cy="1792224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1764792"/>
            <a:ext cx="29077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Решение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2185416"/>
            <a:ext cx="2907792" cy="1014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041"/>
                </a:solidFill>
                <a:latin typeface="Arial"/>
              </a:rPr>
              <a:t>Намерения, свой магазин, подтверждённый визит, общий список, журнал и симулятор.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557016"/>
            <a:ext cx="3364992" cy="1792224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758184"/>
            <a:ext cx="29077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Заказчик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178808"/>
            <a:ext cx="2907792" cy="1014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041"/>
                </a:solidFill>
                <a:latin typeface="Arial"/>
              </a:rPr>
              <a:t>Инициативный проект команды («самореализация»); внешнего заказчика нет.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3557016"/>
            <a:ext cx="3364992" cy="1792224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54296" y="3758184"/>
            <a:ext cx="29077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Аналоги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54296" y="4178808"/>
            <a:ext cx="2907792" cy="1014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041"/>
                </a:solidFill>
                <a:latin typeface="Arial"/>
              </a:rPr>
              <a:t>Apple Reminders: напоминание по месту. Google Keep/Tasks: заметки и задачи.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28431" y="3557016"/>
            <a:ext cx="3364992" cy="1792224"/>
          </a:xfrm>
          <a:prstGeom prst="roundRect">
            <a:avLst>
              <a:gd name="adj" fmla="val 12000"/>
            </a:avLst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1" y="3758184"/>
            <a:ext cx="29077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Наше отличие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4178808"/>
            <a:ext cx="2907792" cy="1014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Android MVP: остановка перед сигналом, группировка дел и отсутствие дублей.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64184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384"/>
                </a:solidFill>
                <a:latin typeface="Arial"/>
              </a:rPr>
              <a:t>Ориентир исходного проекта — локальная работа в РФ; кроссплатформенность вне Android MVP. Ценность и поведение при визите ещё нужно проверить.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364E"/>
                </a:solidFill>
                <a:latin typeface="Arial"/>
              </a:rPr>
              <a:t>02 ·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22376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B71B2"/>
                </a:solidFill>
                <a:latin typeface="Arial"/>
              </a:rPr>
              <a:t>Кто за что отвечает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71016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384"/>
                </a:solidFill>
                <a:latin typeface="Arial"/>
              </a:rPr>
              <a:t>Роли назначены; вклад каждого в ЛР 1 подтверждается отдельно.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345936"/>
            <a:ext cx="813816" cy="4480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0" y="6382512"/>
            <a:ext cx="5943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384"/>
                </a:solidFill>
                <a:latin typeface="Arial"/>
              </a:rPr>
              <a:t>03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783080"/>
            <a:ext cx="5084064" cy="1664208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84248"/>
            <a:ext cx="46268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Бартоломей Андрей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404872"/>
            <a:ext cx="4626864" cy="886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03041"/>
                </a:solidFill>
                <a:latin typeface="Arial"/>
              </a:rPr>
              <a:t>Менеджер · аналитик · техписатель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03041"/>
                </a:solidFill>
                <a:latin typeface="Arial"/>
              </a:rPr>
              <a:t>Потребности, требования, план.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03041"/>
                </a:solidFill>
                <a:latin typeface="Arial"/>
              </a:rPr>
              <a:t>Артефакты: Vision, бэклог, ТЗ v1.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1783080"/>
            <a:ext cx="5230368" cy="1664208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984248"/>
            <a:ext cx="47731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Боровик Фёдор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2404872"/>
            <a:ext cx="4773168" cy="886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03041"/>
                </a:solidFill>
                <a:latin typeface="Arial"/>
              </a:rPr>
              <a:t>Разработчик · техписатель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03041"/>
                </a:solidFill>
                <a:latin typeface="Arial"/>
              </a:rPr>
              <a:t>Правила показа, документация.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03041"/>
                </a:solidFill>
                <a:latin typeface="Arial"/>
              </a:rPr>
              <a:t>Артефакт: проектные решения.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66744"/>
            <a:ext cx="5084064" cy="1664208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867911"/>
            <a:ext cx="46268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Золотилина Екатерина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288536"/>
            <a:ext cx="4626864" cy="886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03041"/>
                </a:solidFill>
                <a:latin typeface="Arial"/>
              </a:rPr>
              <a:t>Разработчик · дизайнер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03041"/>
                </a:solidFill>
                <a:latin typeface="Arial"/>
              </a:rPr>
              <a:t>Экраны намерений, места и списка.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03041"/>
                </a:solidFill>
                <a:latin typeface="Arial"/>
              </a:rPr>
              <a:t>Артефакт: критерии приёмки.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4768" y="3666744"/>
            <a:ext cx="5230368" cy="1664208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3867911"/>
            <a:ext cx="47731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Поспелова Магдалина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4288536"/>
            <a:ext cx="4773168" cy="886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03041"/>
                </a:solidFill>
                <a:latin typeface="Arial"/>
              </a:rPr>
              <a:t>Разработчик · тестировщик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03041"/>
                </a:solidFill>
                <a:latin typeface="Arial"/>
              </a:rPr>
              <a:t>Уведомления и сценарии визита.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03041"/>
                </a:solidFill>
                <a:latin typeface="Arial"/>
              </a:rPr>
              <a:t>План: прототип и отчёт тестирования.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577840"/>
            <a:ext cx="105156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384"/>
                </a:solidFill>
                <a:latin typeface="Arial"/>
              </a:rPr>
              <a:t>PM: Бартоломей. Ведущий итерации (Scrum Master) назначается командой; плановые артефакты ещё не означают их готовность.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364E"/>
                </a:solidFill>
                <a:latin typeface="Arial"/>
              </a:rPr>
              <a:t>03 ·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22376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B71B2"/>
                </a:solidFill>
                <a:latin typeface="Arial"/>
              </a:rPr>
              <a:t>Не время. Контекст.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345936"/>
            <a:ext cx="813816" cy="4480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0" y="6382512"/>
            <a:ext cx="5943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384"/>
                </a:solidFill>
                <a:latin typeface="Arial"/>
              </a:rPr>
              <a:t>04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90472"/>
            <a:ext cx="10561320" cy="1042415"/>
          </a:xfrm>
          <a:prstGeom prst="roundRect">
            <a:avLst>
              <a:gd name="adj" fmla="val 12000"/>
            </a:avLst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1636776"/>
            <a:ext cx="9966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>
                <a:solidFill>
                  <a:srgbClr val="FFFFFF"/>
                </a:solidFill>
                <a:latin typeface="Arial"/>
              </a:rPr>
              <a:t>Для людей с делами, привязанными к месту, GoCue — приложение, которое возвращает намерение во время подходящего визита.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88920"/>
            <a:ext cx="2450592" cy="1865376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96696" y="2953512"/>
            <a:ext cx="475488" cy="438912"/>
          </a:xfrm>
          <a:prstGeom prst="roundRect">
            <a:avLst>
              <a:gd name="adj" fmla="val 12000"/>
            </a:avLst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" y="2953512"/>
            <a:ext cx="329184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3529584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B71B2"/>
                </a:solidFill>
                <a:latin typeface="Arial"/>
              </a:rPr>
              <a:t>Записать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" y="3950208"/>
            <a:ext cx="210312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041"/>
                </a:solidFill>
                <a:latin typeface="Arial"/>
              </a:rPr>
              <a:t>«Купить батарейки»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0128" y="3364992"/>
            <a:ext cx="201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B71B2"/>
                </a:solidFill>
                <a:latin typeface="Arial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02152" y="2788920"/>
            <a:ext cx="2450592" cy="1865376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75888" y="2953512"/>
            <a:ext cx="475488" cy="438912"/>
          </a:xfrm>
          <a:prstGeom prst="roundRect">
            <a:avLst>
              <a:gd name="adj" fmla="val 12000"/>
            </a:avLst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0" y="2953512"/>
            <a:ext cx="329184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8" y="3529584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B71B2"/>
                </a:solidFill>
                <a:latin typeface="Arial"/>
              </a:rPr>
              <a:t>Выбрать контекст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5888" y="3950208"/>
            <a:ext cx="210312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041"/>
                </a:solidFill>
                <a:latin typeface="Arial"/>
              </a:rPr>
              <a:t>MY_SUPERMARKET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364992"/>
            <a:ext cx="201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B71B2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2788920"/>
            <a:ext cx="2450592" cy="1865376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55080" y="2953512"/>
            <a:ext cx="475488" cy="438912"/>
          </a:xfrm>
          <a:prstGeom prst="roundRect">
            <a:avLst>
              <a:gd name="adj" fmla="val 12000"/>
            </a:avLst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2953512"/>
            <a:ext cx="329184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3529584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B71B2"/>
                </a:solidFill>
                <a:latin typeface="Arial"/>
              </a:rPr>
              <a:t>Определить визит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950208"/>
            <a:ext cx="210312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041"/>
                </a:solidFill>
                <a:latin typeface="Arial"/>
              </a:rPr>
              <a:t>Вход → выдержка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68512" y="3364992"/>
            <a:ext cx="201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B71B2"/>
                </a:solidFill>
                <a:latin typeface="Arial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2788920"/>
            <a:ext cx="2450592" cy="1865376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034272" y="2953512"/>
            <a:ext cx="475488" cy="438912"/>
          </a:xfrm>
          <a:prstGeom prst="roundRect">
            <a:avLst>
              <a:gd name="adj" fmla="val 12000"/>
            </a:avLst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07424" y="2953512"/>
            <a:ext cx="329184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B71B2"/>
                </a:solidFill>
                <a:latin typeface="Arial"/>
              </a:rPr>
              <a:t>Сделать дело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4272" y="3950208"/>
            <a:ext cx="210312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041"/>
                </a:solidFill>
                <a:latin typeface="Arial"/>
              </a:rPr>
              <a:t>Один список на визит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4965192"/>
            <a:ext cx="10543032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364E"/>
                </a:solidFill>
                <a:latin typeface="Arial"/>
              </a:rPr>
              <a:t>В отличие от обычного списка и напоминания по времени: семантическое место, подтверждённый визит и один список без дублей. Ожидаемая выгода — меньше лишних поездок; её ещё нужно проверить с пользователями.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364E"/>
                </a:solidFill>
                <a:latin typeface="Arial"/>
              </a:rPr>
              <a:t>03 ·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22376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B71B2"/>
                </a:solidFill>
                <a:latin typeface="Arial"/>
              </a:rPr>
              <a:t>Как поймём, что GoCue полезен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71016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384"/>
                </a:solidFill>
                <a:latin typeface="Arial"/>
              </a:rPr>
              <a:t>Базовые значения пока не измерены — ниже целевые критерии испытаний.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345936"/>
            <a:ext cx="813816" cy="4480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0" y="6382512"/>
            <a:ext cx="5943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384"/>
                </a:solidFill>
                <a:latin typeface="Arial"/>
              </a:rPr>
              <a:t>05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792224"/>
            <a:ext cx="3364992" cy="3401568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011680"/>
            <a:ext cx="2880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B71B2"/>
                </a:solidFill>
                <a:latin typeface="Arial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752344"/>
            <a:ext cx="2880360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C364E"/>
                </a:solidFill>
                <a:latin typeface="Arial"/>
              </a:rPr>
              <a:t>ложных сигналов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3227832"/>
            <a:ext cx="2862072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при 20 симулированных проходах и проездах мимо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4206240"/>
            <a:ext cx="2880360" cy="10972"/>
          </a:xfrm>
          <a:prstGeom prst="rect">
            <a:avLst/>
          </a:prstGeom>
          <a:solidFill>
            <a:srgbClr val="D7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416552"/>
            <a:ext cx="2880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384"/>
                </a:solidFill>
                <a:latin typeface="Arial"/>
              </a:rPr>
              <a:t>Автотесты + проверка на устройстве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25696" y="1792224"/>
            <a:ext cx="3364992" cy="3401568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011680"/>
            <a:ext cx="2880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B71B2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752344"/>
            <a:ext cx="2880360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C364E"/>
                </a:solidFill>
                <a:latin typeface="Arial"/>
              </a:rPr>
              <a:t>дублей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227832"/>
            <a:ext cx="2862072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в одном визите после переоценки и перезапуска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54296" y="4206240"/>
            <a:ext cx="2880360" cy="10972"/>
          </a:xfrm>
          <a:prstGeom prst="rect">
            <a:avLst/>
          </a:prstGeom>
          <a:solidFill>
            <a:srgbClr val="D7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4416552"/>
            <a:ext cx="2880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384"/>
                </a:solidFill>
                <a:latin typeface="Arial"/>
              </a:rPr>
              <a:t>Тест восстановления состояния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28431" y="1792224"/>
            <a:ext cx="3364992" cy="3401568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6175" y="2011680"/>
            <a:ext cx="2880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B71B2"/>
                </a:solidFill>
                <a:latin typeface="Arial"/>
              </a:rPr>
              <a:t>≤ 10 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2752344"/>
            <a:ext cx="2880360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C364E"/>
                </a:solidFill>
                <a:latin typeface="Arial"/>
              </a:rPr>
              <a:t>на запись дела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5" y="3227832"/>
            <a:ext cx="2862072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медиана в 10 сценариях с добровольцами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57031" y="4206240"/>
            <a:ext cx="2880360" cy="10972"/>
          </a:xfrm>
          <a:prstGeom prst="rect">
            <a:avLst/>
          </a:prstGeom>
          <a:solidFill>
            <a:srgbClr val="D7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66175" y="4416552"/>
            <a:ext cx="2880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384"/>
                </a:solidFill>
                <a:latin typeface="Arial"/>
              </a:rPr>
              <a:t>Ориентир продукта — 2–3 секунды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364E"/>
                </a:solidFill>
                <a:latin typeface="Arial"/>
              </a:rPr>
              <a:t>04 · УСТАВ ПРОЕКТА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22376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B71B2"/>
                </a:solidFill>
                <a:latin typeface="Arial"/>
              </a:rPr>
              <a:t>Цель и границы проекта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345936"/>
            <a:ext cx="813816" cy="4480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0" y="6382512"/>
            <a:ext cx="5943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384"/>
                </a:solidFill>
                <a:latin typeface="Arial"/>
              </a:rPr>
              <a:t>06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44752"/>
            <a:ext cx="10561320" cy="1225296"/>
          </a:xfrm>
          <a:prstGeom prst="roundRect">
            <a:avLst>
              <a:gd name="adj" fmla="val 12000"/>
            </a:avLst>
          </a:prstGeom>
          <a:solidFill>
            <a:srgbClr val="E2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572768"/>
            <a:ext cx="10058400" cy="1033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364E"/>
                </a:solidFill>
                <a:latin typeface="Arial"/>
              </a:rPr>
              <a:t>К 12-й неделе 8-го семестра показать Android-прототип: запись дела, свой магазин, подтверждённый визит, групповой сигнал, завершение и следующий визит. Пройти 20 симуляций без ложных сигналов и дублей, затем проверить одно реальное место.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43784"/>
            <a:ext cx="5111496" cy="2542032"/>
          </a:xfrm>
          <a:prstGeom prst="roundRect">
            <a:avLst>
              <a:gd name="adj" fmla="val 12000"/>
            </a:avLst>
          </a:prstGeom>
          <a:solidFill>
            <a:srgbClr val="E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44952"/>
            <a:ext cx="46542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37F6C"/>
                </a:solidFill>
                <a:latin typeface="Arial"/>
              </a:rPr>
              <a:t>Входит в проект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465576"/>
            <a:ext cx="4654296" cy="1764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• намерения и семантические места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• ручной MY_SUPERMARKET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• подтверждение визита и общий список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• «Напомнить в следующий визит»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• локальные события и симулятор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2843784"/>
            <a:ext cx="5184648" cy="2542032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3044952"/>
            <a:ext cx="4727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Не входит в проект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465576"/>
            <a:ext cx="4727448" cy="1764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• маршруты и поиск магазинов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• облачный аккаунт и сервер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• LLM и распознавание текста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• погода, календарь, часы работы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• автоматическое определение дома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14416"/>
            <a:ext cx="1049731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384"/>
                </a:solidFill>
                <a:latin typeface="Arial"/>
              </a:rPr>
              <a:t>Ограничение: локальный Android без сервера и аккаунта; точность геозоны нельзя обещать до испытаний. Календарные даты сверяем с дорожной картой курса.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364E"/>
                </a:solidFill>
                <a:latin typeface="Arial"/>
              </a:rPr>
              <a:t>04 · УСТАВ ПРОЕКТА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22376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B71B2"/>
                </a:solidFill>
                <a:latin typeface="Arial"/>
              </a:rPr>
              <a:t>Вехи и риски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345936"/>
            <a:ext cx="813816" cy="4480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0" y="6382512"/>
            <a:ext cx="5943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384"/>
                </a:solidFill>
                <a:latin typeface="Arial"/>
              </a:rPr>
              <a:t>07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45336"/>
            <a:ext cx="2450592" cy="1042415"/>
          </a:xfrm>
          <a:prstGeom prst="roundRect">
            <a:avLst>
              <a:gd name="adj" fmla="val 12000"/>
            </a:avLst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673352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КТ1 · сейчас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1984248"/>
            <a:ext cx="21122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Arial"/>
              </a:rPr>
              <a:t>Тема, Vision, устав, бэклог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1296" y="1545336"/>
            <a:ext cx="2450592" cy="1042415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6744" y="1673352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71B2"/>
                </a:solidFill>
                <a:latin typeface="Arial"/>
              </a:rPr>
              <a:t>КТ2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6744" y="1984248"/>
            <a:ext cx="21122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03041"/>
                </a:solidFill>
                <a:latin typeface="Arial"/>
              </a:rPr>
              <a:t>Симулятор и логика визитов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545336"/>
            <a:ext cx="2450592" cy="1042415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673352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71B2"/>
                </a:solidFill>
                <a:latin typeface="Arial"/>
              </a:rPr>
              <a:t>КТ3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84248"/>
            <a:ext cx="21122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03041"/>
                </a:solidFill>
                <a:latin typeface="Arial"/>
              </a:rPr>
              <a:t>Одна реальная геозона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87968" y="1545336"/>
            <a:ext cx="2450592" cy="1042415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43416" y="1673352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71B2"/>
                </a:solidFill>
                <a:latin typeface="Arial"/>
              </a:rPr>
              <a:t>КТ4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43416" y="1984248"/>
            <a:ext cx="21122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03041"/>
                </a:solidFill>
                <a:latin typeface="Arial"/>
              </a:rPr>
              <a:t>Показ, документация, релиз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2798064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B71B2"/>
                </a:solidFill>
                <a:latin typeface="Arial"/>
              </a:rPr>
              <a:t>Ключевые риски · вероятность / влияние · мера · ответственный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182112"/>
            <a:ext cx="10552176" cy="475488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" y="3291840"/>
            <a:ext cx="4087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1C364E"/>
                </a:solidFill>
                <a:latin typeface="Arial"/>
              </a:rPr>
              <a:t>Событие геозоны задержится · В/В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3291840"/>
            <a:ext cx="42885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203041"/>
                </a:solidFill>
                <a:latin typeface="Arial"/>
              </a:rPr>
              <a:t>Симулятор → Galaxy S25; документировать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32918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384"/>
                </a:solidFill>
                <a:latin typeface="Arial"/>
              </a:rPr>
              <a:t>Боровик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730752"/>
            <a:ext cx="10552176" cy="475488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3840480"/>
            <a:ext cx="4087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1C364E"/>
                </a:solidFill>
                <a:latin typeface="Arial"/>
              </a:rPr>
              <a:t>Проезд мимо даст ложный сигнал · В/В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3840480"/>
            <a:ext cx="42885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203041"/>
                </a:solidFill>
                <a:latin typeface="Arial"/>
              </a:rPr>
              <a:t>CANDIDATE + выдержка; тест границ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38404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384"/>
                </a:solidFill>
                <a:latin typeface="Arial"/>
              </a:rPr>
              <a:t>Поспелова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4279392"/>
            <a:ext cx="10552176" cy="475488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552" y="4389120"/>
            <a:ext cx="4087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1C364E"/>
                </a:solidFill>
                <a:latin typeface="Arial"/>
              </a:rPr>
              <a:t>Перезапуск создаст дубль · С/В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4389120"/>
            <a:ext cx="42885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203041"/>
                </a:solidFill>
                <a:latin typeface="Arial"/>
              </a:rPr>
              <a:t>Хранить визит и ключ уведомления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0" y="43891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384"/>
                </a:solidFill>
                <a:latin typeface="Arial"/>
              </a:rPr>
              <a:t>Боровик / Поспелова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28031"/>
            <a:ext cx="10552176" cy="475488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" y="4937759"/>
            <a:ext cx="4087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1C364E"/>
                </a:solidFill>
                <a:latin typeface="Arial"/>
              </a:rPr>
              <a:t>Нативный Android займёт больше времени · С/В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66360" y="4937759"/>
            <a:ext cx="42885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203041"/>
                </a:solidFill>
                <a:latin typeface="Arial"/>
              </a:rPr>
              <a:t>Ограничить объём; начать с логики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0" y="4937759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384"/>
                </a:solidFill>
                <a:latin typeface="Arial"/>
              </a:rPr>
              <a:t>Бартоломей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5376672"/>
            <a:ext cx="10552176" cy="475488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" y="5486400"/>
            <a:ext cx="4087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1C364E"/>
                </a:solidFill>
                <a:latin typeface="Arial"/>
              </a:rPr>
              <a:t>Геоданные вызовут недоверие · С/В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66360" y="5486400"/>
            <a:ext cx="42885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203041"/>
                </a:solidFill>
                <a:latin typeface="Arial"/>
              </a:rPr>
              <a:t>Локально, минимум событий, удаление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9760" y="54864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384"/>
                </a:solidFill>
                <a:latin typeface="Arial"/>
              </a:rPr>
              <a:t>Золотилина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5943600"/>
            <a:ext cx="10469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384"/>
                </a:solidFill>
                <a:latin typeface="Arial"/>
              </a:rPr>
              <a:t>Ориентир исходного плана: MVP к концу декабря; дату уточняем по дорожной карте курса.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364E"/>
                </a:solidFill>
                <a:latin typeface="Arial"/>
              </a:rPr>
              <a:t>04 · УСТАВ ПРОЕКТА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22376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B71B2"/>
                </a:solidFill>
                <a:latin typeface="Arial"/>
              </a:rPr>
              <a:t>Распределение задач до КТ1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71016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384"/>
                </a:solidFill>
                <a:latin typeface="Arial"/>
              </a:rPr>
              <a:t>Плановые даты команды и фактические статусы GitHub Projects на 15.10.2026.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345936"/>
            <a:ext cx="813816" cy="4480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0" y="6382512"/>
            <a:ext cx="5943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384"/>
                </a:solidFill>
                <a:latin typeface="Arial"/>
              </a:rPr>
              <a:t>08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82496"/>
            <a:ext cx="1938528" cy="804672"/>
          </a:xfrm>
          <a:prstGeom prst="roundRect">
            <a:avLst>
              <a:gd name="adj" fmla="val 12000"/>
            </a:avLst>
          </a:prstGeom>
          <a:solidFill>
            <a:srgbClr val="E2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1810512"/>
            <a:ext cx="15544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10312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03041"/>
                </a:solidFill>
                <a:latin typeface="Arial"/>
              </a:rPr>
              <a:t>3 задачи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80944" y="1682496"/>
            <a:ext cx="1938528" cy="804672"/>
          </a:xfrm>
          <a:prstGeom prst="roundRect">
            <a:avLst>
              <a:gd name="adj" fmla="val 12000"/>
            </a:avLst>
          </a:prstGeom>
          <a:solidFill>
            <a:srgbClr val="E2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36391" y="1810512"/>
            <a:ext cx="15544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Ready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1" y="210312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03041"/>
                </a:solidFill>
                <a:latin typeface="Arial"/>
              </a:rPr>
              <a:t>2 задачи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8928" y="1682496"/>
            <a:ext cx="1938528" cy="804672"/>
          </a:xfrm>
          <a:prstGeom prst="roundRect">
            <a:avLst>
              <a:gd name="adj" fmla="val 12000"/>
            </a:avLst>
          </a:prstGeom>
          <a:solidFill>
            <a:srgbClr val="E2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94376" y="1810512"/>
            <a:ext cx="15544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In progress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4376" y="210312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03041"/>
                </a:solidFill>
                <a:latin typeface="Arial"/>
              </a:rPr>
              <a:t>1 задачи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96912" y="1682496"/>
            <a:ext cx="1938528" cy="804672"/>
          </a:xfrm>
          <a:prstGeom prst="roundRect">
            <a:avLst>
              <a:gd name="adj" fmla="val 12000"/>
            </a:avLst>
          </a:prstGeom>
          <a:solidFill>
            <a:srgbClr val="E2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1810512"/>
            <a:ext cx="15544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In 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210312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03041"/>
                </a:solidFill>
                <a:latin typeface="Arial"/>
              </a:rPr>
              <a:t>3 задачи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54896" y="1682496"/>
            <a:ext cx="1938528" cy="804672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10344" y="1810512"/>
            <a:ext cx="15544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Backlog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0344" y="210312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03041"/>
                </a:solidFill>
                <a:latin typeface="Arial"/>
              </a:rPr>
              <a:t>5 задачи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660904"/>
            <a:ext cx="5943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B71B2"/>
                </a:solidFill>
                <a:latin typeface="Arial"/>
              </a:rPr>
              <a:t>Issue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55648" y="2660904"/>
            <a:ext cx="57150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B71B2"/>
                </a:solidFill>
                <a:latin typeface="Arial"/>
              </a:rPr>
              <a:t>Задача исходного плана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2660904"/>
            <a:ext cx="11887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B71B2"/>
                </a:solidFill>
                <a:latin typeface="Arial"/>
              </a:rPr>
              <a:t>План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09176" y="2660904"/>
            <a:ext cx="175564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B71B2"/>
                </a:solidFill>
                <a:latin typeface="Arial"/>
              </a:rPr>
              <a:t>Факт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2962656"/>
            <a:ext cx="10552176" cy="457200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304495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#8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5648" y="3044952"/>
            <a:ext cx="5952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03041"/>
                </a:solidFill>
                <a:latin typeface="Arial"/>
              </a:rPr>
              <a:t>Рабочие соглашения и критерии готовности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30449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384"/>
                </a:solidFill>
                <a:latin typeface="Arial"/>
              </a:rPr>
              <a:t>30.09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044952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C364E"/>
                </a:solidFill>
                <a:latin typeface="Arial"/>
              </a:rPr>
              <a:t>Ready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4787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#9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5648" y="3547872"/>
            <a:ext cx="5952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03041"/>
                </a:solidFill>
                <a:latin typeface="Arial"/>
              </a:rPr>
              <a:t>Политика ИИ и журнал использования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35478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384"/>
                </a:solidFill>
                <a:latin typeface="Arial"/>
              </a:rPr>
              <a:t>30.09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09176" y="3547872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C364E"/>
                </a:solidFill>
                <a:latin typeface="Arial"/>
              </a:rPr>
              <a:t>In review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3968496"/>
            <a:ext cx="10552176" cy="457200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4050791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#5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55648" y="4050791"/>
            <a:ext cx="5952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03041"/>
                </a:solidFill>
                <a:latin typeface="Arial"/>
              </a:rPr>
              <a:t>Vision проекта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4050791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384"/>
                </a:solidFill>
                <a:latin typeface="Arial"/>
              </a:rPr>
              <a:t>14.10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09176" y="4050791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C364E"/>
                </a:solidFill>
                <a:latin typeface="Arial"/>
              </a:rPr>
              <a:t>In review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45537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#4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55648" y="4553712"/>
            <a:ext cx="5952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03041"/>
                </a:solidFill>
                <a:latin typeface="Arial"/>
              </a:rPr>
              <a:t>Доска GitHub Projects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0" y="455371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384"/>
                </a:solidFill>
                <a:latin typeface="Arial"/>
              </a:rPr>
              <a:t>01.10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09176" y="4553712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C364E"/>
                </a:solidFill>
                <a:latin typeface="Arial"/>
              </a:rPr>
              <a:t>Done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" y="4974336"/>
            <a:ext cx="10552176" cy="457200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505663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#10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55648" y="5056632"/>
            <a:ext cx="5952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03041"/>
                </a:solidFill>
                <a:latin typeface="Arial"/>
              </a:rPr>
              <a:t>Отчёт и загрузка на портал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01000" y="505663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384"/>
                </a:solidFill>
                <a:latin typeface="Arial"/>
              </a:rPr>
              <a:t>15.10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09176" y="5056632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C364E"/>
                </a:solidFill>
                <a:latin typeface="Arial"/>
              </a:rPr>
              <a:t>In progress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5641848"/>
            <a:ext cx="1051560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384"/>
                </a:solidFill>
                <a:latin typeface="Arial"/>
              </a:rPr>
              <a:t>Даты — из чернового плана, не официальные сроки. Прежние «100%» заменены фактом; на доске 18 задач, из них 14 для ЛР 1.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364E"/>
                </a:solidFill>
                <a:latin typeface="Arial"/>
              </a:rPr>
              <a:t>05 · ТРЕБОВАНИЯ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22376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B71B2"/>
                </a:solidFill>
                <a:latin typeface="Arial"/>
              </a:rPr>
              <a:t>Пять обязательных правил MVP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345936"/>
            <a:ext cx="813816" cy="4480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0" y="6382512"/>
            <a:ext cx="5943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384"/>
                </a:solidFill>
                <a:latin typeface="Arial"/>
              </a:rPr>
              <a:t>09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36776"/>
            <a:ext cx="3364992" cy="1700784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1819656"/>
            <a:ext cx="521207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71B2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810512"/>
            <a:ext cx="23134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364E"/>
                </a:solidFill>
                <a:latin typeface="Arial"/>
              </a:rPr>
              <a:t>Намерение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322576"/>
            <a:ext cx="2926080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Создать, изменить, завершить или архивировать дело.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5696" y="1636776"/>
            <a:ext cx="3364992" cy="1700784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1819656"/>
            <a:ext cx="521207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71B2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02936" y="1810512"/>
            <a:ext cx="23134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364E"/>
                </a:solidFill>
                <a:latin typeface="Arial"/>
              </a:rPr>
              <a:t>Место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322576"/>
            <a:ext cx="2926080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Привязать MY_SUPERMARKET к выбранному магазину.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1636776"/>
            <a:ext cx="3364992" cy="1700784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1819656"/>
            <a:ext cx="521207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71B2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5672" y="1810512"/>
            <a:ext cx="23134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364E"/>
                </a:solidFill>
                <a:latin typeface="Arial"/>
              </a:rPr>
              <a:t>Визит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322576"/>
            <a:ext cx="2926080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Не уведомлять на сыром входе в геозону.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611880"/>
            <a:ext cx="3364992" cy="1700784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794760"/>
            <a:ext cx="521207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71B2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3785616"/>
            <a:ext cx="23134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364E"/>
                </a:solidFill>
                <a:latin typeface="Arial"/>
              </a:rPr>
              <a:t>Группа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" y="4297680"/>
            <a:ext cx="2926080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Показать связанные дела одним уведомлением.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25696" y="3611880"/>
            <a:ext cx="3364992" cy="1700784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36008" y="3794760"/>
            <a:ext cx="521207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71B2"/>
                </a:solidFill>
                <a:latin typeface="Arial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02936" y="3785616"/>
            <a:ext cx="23134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364E"/>
                </a:solidFill>
                <a:latin typeface="Arial"/>
              </a:rPr>
              <a:t>Следующий визит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4297680"/>
            <a:ext cx="2926080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Подавить повтор сейчас, вернуть дело позже.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28431" y="3611880"/>
            <a:ext cx="3364992" cy="1700784"/>
          </a:xfrm>
          <a:prstGeom prst="roundRect">
            <a:avLst>
              <a:gd name="adj" fmla="val 12000"/>
            </a:avLst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57031" y="3840480"/>
            <a:ext cx="2926080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Инвариант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7031" y="4343400"/>
            <a:ext cx="2880360" cy="722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Одно контекстное уведомление на группу дел за подтверждённый визит.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364E"/>
                </a:solidFill>
                <a:latin typeface="Arial"/>
              </a:rPr>
              <a:t>05 · ТРЕБОВАНИЯ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22376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B71B2"/>
                </a:solidFill>
                <a:latin typeface="Arial"/>
              </a:rPr>
              <a:t>Ключевые пользовательские истории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345936"/>
            <a:ext cx="813816" cy="4480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0" y="6382512"/>
            <a:ext cx="5943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384"/>
                </a:solidFill>
                <a:latin typeface="Arial"/>
              </a:rPr>
              <a:t>10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72768"/>
            <a:ext cx="10552176" cy="1133856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24128" y="1819656"/>
            <a:ext cx="603504" cy="576072"/>
          </a:xfrm>
          <a:prstGeom prst="roundRect">
            <a:avLst>
              <a:gd name="adj" fmla="val 12000"/>
            </a:avLst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19656"/>
            <a:ext cx="45720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5376" y="1746504"/>
            <a:ext cx="9052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B71B2"/>
                </a:solidFill>
                <a:latin typeface="Arial"/>
              </a:rPr>
              <a:t>Когда я записываю покупку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65376" y="2112264"/>
            <a:ext cx="905256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я выбираю MY_SUPERMARKET, чтобы не указывать координаты в каждом деле.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35224"/>
            <a:ext cx="10552176" cy="1133856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24128" y="3182112"/>
            <a:ext cx="603504" cy="576072"/>
          </a:xfrm>
          <a:prstGeom prst="roundRect">
            <a:avLst>
              <a:gd name="adj" fmla="val 12000"/>
            </a:avLst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182112"/>
            <a:ext cx="45720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65376" y="3108960"/>
            <a:ext cx="9052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B71B2"/>
                </a:solidFill>
                <a:latin typeface="Arial"/>
              </a:rPr>
              <a:t>Когда я остановился у магазина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65376" y="3474720"/>
            <a:ext cx="905256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я получаю один список всех подходящих дел — не уведомление на каждый пункт.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297680"/>
            <a:ext cx="10552176" cy="1133856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24128" y="4544568"/>
            <a:ext cx="603504" cy="576072"/>
          </a:xfrm>
          <a:prstGeom prst="roundRect">
            <a:avLst>
              <a:gd name="adj" fmla="val 12000"/>
            </a:avLst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544568"/>
            <a:ext cx="45720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65376" y="4471416"/>
            <a:ext cx="9052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B71B2"/>
                </a:solidFill>
                <a:latin typeface="Arial"/>
              </a:rPr>
              <a:t>Когда не могу сделать дело сейчас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65376" y="4837176"/>
            <a:ext cx="905256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3041"/>
                </a:solidFill>
                <a:latin typeface="Arial"/>
              </a:rPr>
              <a:t>я выбираю «Напомнить в следующий визит» и не получаю дублей сегодня.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797296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384"/>
                </a:solidFill>
                <a:latin typeface="Arial"/>
              </a:rPr>
              <a:t>Критерии приёмки: правильный контекст, подтверждённый визит, отсутствие дублей, сохранение состояния.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364E"/>
                </a:solidFill>
                <a:latin typeface="Arial"/>
              </a:rPr>
              <a:t>05 · ТРЕБОВАНИЯ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22376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B71B2"/>
                </a:solidFill>
                <a:latin typeface="Arial"/>
              </a:rPr>
              <a:t>Нефункциональные требования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345936"/>
            <a:ext cx="813816" cy="4480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0" y="6382512"/>
            <a:ext cx="5943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384"/>
                </a:solidFill>
                <a:latin typeface="Arial"/>
              </a:rPr>
              <a:t>11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18488"/>
            <a:ext cx="5102352" cy="1783080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18488"/>
            <a:ext cx="64008" cy="1783080"/>
          </a:xfrm>
          <a:prstGeom prst="rect">
            <a:avLst/>
          </a:prstGeom>
          <a:solidFill>
            <a:srgbClr val="237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19656"/>
            <a:ext cx="46451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Приватность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240280"/>
            <a:ext cx="464515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03041"/>
                </a:solidFill>
                <a:latin typeface="Arial"/>
              </a:rPr>
              <a:t>Локальные данные.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03041"/>
                </a:solidFill>
                <a:latin typeface="Arial"/>
              </a:rPr>
              <a:t>Без аккаунта, сервера и LLM.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618488"/>
            <a:ext cx="5102352" cy="1783080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618488"/>
            <a:ext cx="64008" cy="1783080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819656"/>
            <a:ext cx="46451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Надёжность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2240280"/>
            <a:ext cx="464515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03041"/>
                </a:solidFill>
                <a:latin typeface="Arial"/>
              </a:rPr>
              <a:t>Визит, завершённые дела и подавление переживают перезапуск.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648456"/>
            <a:ext cx="5102352" cy="1783080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648456"/>
            <a:ext cx="64008" cy="1783080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849624"/>
            <a:ext cx="46451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Тишина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270248"/>
            <a:ext cx="464515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03041"/>
                </a:solidFill>
                <a:latin typeface="Arial"/>
              </a:rPr>
              <a:t>Нет сигнала при кратком проезде и повтора в одном визите.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3648456"/>
            <a:ext cx="5102352" cy="1783080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3648456"/>
            <a:ext cx="64008" cy="1783080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3849624"/>
            <a:ext cx="46451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Контроль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4270248"/>
            <a:ext cx="464515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03041"/>
                </a:solidFill>
                <a:latin typeface="Arial"/>
              </a:rPr>
              <a:t>Понятные разрешения, журнал событий и экран симуляции.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769864"/>
            <a:ext cx="1051560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384"/>
                </a:solidFill>
                <a:latin typeface="Arial"/>
              </a:rPr>
              <a:t>При отключённой фоновой геолокации дела остаются доступными, но автоматический показ недоступен.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364E"/>
                </a:solidFill>
                <a:latin typeface="Arial"/>
              </a:rPr>
              <a:t>05 · ТРЕБОВАНИЯ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22376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B71B2"/>
                </a:solidFill>
                <a:latin typeface="Arial"/>
              </a:rPr>
              <a:t>Как будет выглядеть полезный момент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71016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384"/>
                </a:solidFill>
                <a:latin typeface="Arial"/>
              </a:rPr>
              <a:t>Концепт ключевого экрана; работающий прототип ещё не готов.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345936"/>
            <a:ext cx="813816" cy="4480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0" y="6382512"/>
            <a:ext cx="5943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384"/>
                </a:solidFill>
                <a:latin typeface="Arial"/>
              </a:rPr>
              <a:t>12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1618488"/>
            <a:ext cx="4069080" cy="4224528"/>
          </a:xfrm>
          <a:prstGeom prst="roundRect">
            <a:avLst>
              <a:gd name="adj" fmla="val 12000"/>
            </a:avLst>
          </a:prstGeom>
          <a:solidFill>
            <a:srgbClr val="1C36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70432" y="1773936"/>
            <a:ext cx="3831336" cy="3849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30552" y="1865376"/>
            <a:ext cx="1920240" cy="283464"/>
          </a:xfrm>
          <a:prstGeom prst="roundRect">
            <a:avLst>
              <a:gd name="adj" fmla="val 12000"/>
            </a:avLst>
          </a:prstGeom>
          <a:solidFill>
            <a:srgbClr val="E2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03704" y="1865376"/>
            <a:ext cx="1773936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B71B2"/>
                </a:solidFill>
                <a:latin typeface="Arial"/>
              </a:rPr>
              <a:t>GO CUE · ВИЗИТ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414016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C364E"/>
                </a:solidFill>
                <a:latin typeface="Arial"/>
              </a:rPr>
              <a:t>Мой магазин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7904" y="2944368"/>
            <a:ext cx="306324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3041"/>
                </a:solidFill>
                <a:latin typeface="Arial"/>
              </a:rPr>
              <a:t>□ Туалетная бумага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3041"/>
                </a:solidFill>
                <a:latin typeface="Arial"/>
              </a:rPr>
              <a:t>□ Молоко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3041"/>
                </a:solidFill>
                <a:latin typeface="Arial"/>
              </a:rPr>
              <a:t>□ Батарейки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81328" y="4690872"/>
            <a:ext cx="1197864" cy="420624"/>
          </a:xfrm>
          <a:prstGeom prst="roundRect">
            <a:avLst>
              <a:gd name="adj" fmla="val 12000"/>
            </a:avLst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4690872"/>
            <a:ext cx="10515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Готово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70632" y="4690872"/>
            <a:ext cx="1883664" cy="420624"/>
          </a:xfrm>
          <a:prstGeom prst="roundRect">
            <a:avLst>
              <a:gd name="adj" fmla="val 12000"/>
            </a:avLst>
          </a:prstGeom>
          <a:solidFill>
            <a:srgbClr val="E2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43784" y="4690872"/>
            <a:ext cx="17373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71B2"/>
                </a:solidFill>
                <a:latin typeface="Arial"/>
              </a:rPr>
              <a:t>В следующий визит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5000" y="1764792"/>
            <a:ext cx="5650992" cy="1078992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0" y="1965960"/>
            <a:ext cx="51937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Не сразу при входе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386584"/>
            <a:ext cx="5193792" cy="301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041"/>
                </a:solidFill>
                <a:latin typeface="Arial"/>
              </a:rPr>
              <a:t>Сначала кандидат на визит; уведомление после выдержки.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15000" y="3054096"/>
            <a:ext cx="5650992" cy="1078992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3255264"/>
            <a:ext cx="51937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Не три разных сигнала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3675887"/>
            <a:ext cx="5193792" cy="301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041"/>
                </a:solidFill>
                <a:latin typeface="Arial"/>
              </a:rPr>
              <a:t>Все подходящие дела объединены в один список.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5000" y="4343400"/>
            <a:ext cx="5650992" cy="1078992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0" y="4544568"/>
            <a:ext cx="51937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Не повторять в этот визит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4965192"/>
            <a:ext cx="5193792" cy="301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041"/>
                </a:solidFill>
                <a:latin typeface="Arial"/>
              </a:rPr>
              <a:t>Завершить дело или отложить до следующего визита.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15000" y="5596128"/>
            <a:ext cx="5650992" cy="530352"/>
          </a:xfrm>
          <a:prstGeom prst="roundRect">
            <a:avLst>
              <a:gd name="adj" fmla="val 12000"/>
            </a:avLst>
          </a:prstGeom>
          <a:solidFill>
            <a:srgbClr val="E2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16168" y="5696712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Виджет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21424" y="5641848"/>
            <a:ext cx="4233672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03041"/>
                </a:solidFill>
                <a:latin typeface="Arial"/>
              </a:rPr>
              <a:t>Список на главном экране; сам не всплывает — при визите нужно уведомление.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364E"/>
                </a:solidFill>
                <a:latin typeface="Arial"/>
              </a:rPr>
              <a:t>06 · ПРОЕКТНЫЕ РЕШЕНИЯ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22376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B71B2"/>
                </a:solidFill>
                <a:latin typeface="Arial"/>
              </a:rPr>
              <a:t>Принятые решения и открытые вопросы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71016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384"/>
                </a:solidFill>
                <a:latin typeface="Arial"/>
              </a:rPr>
              <a:t>Категории из исходной таблицы сохранены; незавершённые решения названы прямо.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345936"/>
            <a:ext cx="813816" cy="4480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0" y="6382512"/>
            <a:ext cx="5943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384"/>
                </a:solidFill>
                <a:latin typeface="Arial"/>
              </a:rPr>
              <a:t>13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627632"/>
            <a:ext cx="10552176" cy="438912"/>
          </a:xfrm>
          <a:prstGeom prst="rect">
            <a:avLst/>
          </a:prstGeom>
          <a:solidFill>
            <a:srgbClr val="E2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4952" y="1737360"/>
            <a:ext cx="34381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Выбор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6248" y="1737360"/>
            <a:ext cx="44988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1B2"/>
                </a:solidFill>
                <a:latin typeface="Arial"/>
              </a:rPr>
              <a:t>Обоснование / статус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39696"/>
            <a:ext cx="10552176" cy="539496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76856"/>
            <a:ext cx="19568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>
                <a:solidFill>
                  <a:srgbClr val="1C364E"/>
                </a:solidFill>
                <a:latin typeface="Arial"/>
              </a:rPr>
              <a:t>Тип приложения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4952" y="2276856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203041"/>
                </a:solidFill>
                <a:latin typeface="Arial"/>
              </a:rPr>
              <a:t>Нативный Android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276856"/>
            <a:ext cx="44988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203041"/>
                </a:solidFill>
                <a:latin typeface="Arial"/>
              </a:rPr>
              <a:t>Мобильность, геозоны, уведомления.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770632"/>
            <a:ext cx="10552176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907791"/>
            <a:ext cx="19568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>
                <a:solidFill>
                  <a:srgbClr val="1C364E"/>
                </a:solidFill>
                <a:latin typeface="Arial"/>
              </a:rPr>
              <a:t>Архитектура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4952" y="2907791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203041"/>
                </a:solidFill>
                <a:latin typeface="Arial"/>
              </a:rPr>
              <a:t>Presence → Context → Intent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6248" y="2907791"/>
            <a:ext cx="44988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203041"/>
                </a:solidFill>
                <a:latin typeface="Arial"/>
              </a:rPr>
              <a:t>Логика намерений не получает GPS напрямую.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401568"/>
            <a:ext cx="10552176" cy="539496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538727"/>
            <a:ext cx="19568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>
                <a:solidFill>
                  <a:srgbClr val="1C364E"/>
                </a:solidFill>
                <a:latin typeface="Arial"/>
              </a:rPr>
              <a:t>Backend и БД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4952" y="3538727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203041"/>
                </a:solidFill>
                <a:latin typeface="Arial"/>
              </a:rPr>
              <a:t>Сервера нет; хранение локально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6248" y="3538727"/>
            <a:ext cx="44988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203041"/>
                </a:solidFill>
                <a:latin typeface="Arial"/>
              </a:rPr>
              <a:t>Конкретная библиотека БД — при прототипе.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032504"/>
            <a:ext cx="10552176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169664"/>
            <a:ext cx="19568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>
                <a:solidFill>
                  <a:srgbClr val="1C364E"/>
                </a:solidFill>
                <a:latin typeface="Arial"/>
              </a:rPr>
              <a:t>Frontend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44952" y="4169664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203041"/>
                </a:solidFill>
                <a:latin typeface="Arial"/>
              </a:rPr>
              <a:t>Android-экраны намерений и мест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6248" y="4169664"/>
            <a:ext cx="44988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203041"/>
                </a:solidFill>
                <a:latin typeface="Arial"/>
              </a:rPr>
              <a:t>UI-стек ещё нужно подтвердить.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663440"/>
            <a:ext cx="10552176" cy="539496"/>
          </a:xfrm>
          <a:prstGeom prst="rect">
            <a:avLst/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800600"/>
            <a:ext cx="19568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10" b="1">
                <a:solidFill>
                  <a:srgbClr val="1C364E"/>
                </a:solidFill>
                <a:latin typeface="Arial"/>
              </a:rPr>
              <a:t>Репозиторий и трекер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44952" y="4800600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203041"/>
                </a:solidFill>
                <a:latin typeface="Arial"/>
              </a:rPr>
              <a:t>GitHub + Projects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56248" y="4800600"/>
            <a:ext cx="44988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203041"/>
                </a:solidFill>
                <a:latin typeface="Arial"/>
              </a:rPr>
              <a:t>Код, документы и задачи в одном месте.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5449824"/>
            <a:ext cx="10552176" cy="566928"/>
          </a:xfrm>
          <a:prstGeom prst="roundRect">
            <a:avLst>
              <a:gd name="adj" fmla="val 12000"/>
            </a:avLst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8992" y="5568696"/>
            <a:ext cx="1003096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Геозона → подтверждённый визит → контекст → подходящие дела → одно уведомление.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B7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7899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364E"/>
                </a:solidFill>
                <a:latin typeface="Arial"/>
              </a:rPr>
              <a:t>07 · ИТОГИ КТ1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22376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B71B2"/>
                </a:solidFill>
                <a:latin typeface="Arial"/>
              </a:rPr>
              <a:t>План есть. Дальше — подтвердить и проверить.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6345936"/>
            <a:ext cx="813816" cy="4480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0" y="6382512"/>
            <a:ext cx="5943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384"/>
                </a:solidFill>
                <a:latin typeface="Arial"/>
              </a:rPr>
              <a:t>14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55064"/>
            <a:ext cx="5084064" cy="3227832"/>
          </a:xfrm>
          <a:prstGeom prst="roundRect">
            <a:avLst>
              <a:gd name="adj" fmla="val 12000"/>
            </a:avLst>
          </a:prstGeom>
          <a:solidFill>
            <a:srgbClr val="E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856232"/>
            <a:ext cx="46268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37F6C"/>
                </a:solidFill>
                <a:latin typeface="Arial"/>
              </a:rPr>
              <a:t>Уже есть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276856"/>
            <a:ext cx="4626864" cy="24505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041"/>
                </a:solidFill>
                <a:latin typeface="Arial"/>
              </a:rPr>
              <a:t>✓ согласованная тема GoCue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041"/>
                </a:solidFill>
                <a:latin typeface="Arial"/>
              </a:rPr>
              <a:t>✓ Android как платформа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041"/>
                </a:solidFill>
                <a:latin typeface="Arial"/>
              </a:rPr>
              <a:t>✓ репозиторий и спецификация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041"/>
                </a:solidFill>
                <a:latin typeface="Arial"/>
              </a:rPr>
              <a:t>✓ доска: 18 назначенных задач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041"/>
                </a:solidFill>
                <a:latin typeface="Arial"/>
              </a:rPr>
              <a:t>✓ отчёт ЛР 1 в DOCX и PDF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1655064"/>
            <a:ext cx="5184648" cy="3227832"/>
          </a:xfrm>
          <a:prstGeom prst="roundRect">
            <a:avLst>
              <a:gd name="adj" fmla="val 12000"/>
            </a:avLst>
          </a:prstGeom>
          <a:solidFill>
            <a:srgbClr val="EF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56232"/>
            <a:ext cx="4727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Ещё подтвердить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76856"/>
            <a:ext cx="4727448" cy="24505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041"/>
                </a:solidFill>
                <a:latin typeface="Arial"/>
              </a:rPr>
              <a:t>□ рецензия другой команды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041"/>
                </a:solidFill>
                <a:latin typeface="Arial"/>
              </a:rPr>
              <a:t>□ ретроспектива и личные коммиты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041"/>
                </a:solidFill>
                <a:latin typeface="Arial"/>
              </a:rPr>
              <a:t>□ доступ преподавателя к доске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041"/>
                </a:solidFill>
                <a:latin typeface="Arial"/>
              </a:rPr>
              <a:t>□ мини-защита и загрузка на портал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03041"/>
                </a:solidFill>
                <a:latin typeface="Arial"/>
              </a:rPr>
              <a:t>□ испытания прототипа и геозоны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184648"/>
            <a:ext cx="10552176" cy="566928"/>
          </a:xfrm>
          <a:prstGeom prst="roundRect">
            <a:avLst>
              <a:gd name="adj" fmla="val 12000"/>
            </a:avLst>
          </a:prstGeom>
          <a:solidFill>
            <a:srgbClr val="E2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321808"/>
            <a:ext cx="99943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B71B2"/>
                </a:solidFill>
                <a:latin typeface="Arial"/>
              </a:rPr>
              <a:t>Следующий инженерный шаг: логика без GPS → симулятор → проверка в реальном месте.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79592"/>
            <a:ext cx="6492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B71B2"/>
                </a:solidFill>
                <a:latin typeface="Arial"/>
                <a:hlinkClick r:id="rId3"/>
              </a:rPr>
              <a:t>github.com/techmo0/GoCue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07224" y="587959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384"/>
                </a:solidFill>
                <a:latin typeface="Arial"/>
                <a:hlinkClick r:id="rId4"/>
              </a:rPr>
              <a:t>Доска GitHub Projects · private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GoCue — защита контрольной точки 1</dc:title>
  <dc:subject>Проектный практикум · команда Диалог</dc:subject>
  <dc:creator>Команда «Диалог»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