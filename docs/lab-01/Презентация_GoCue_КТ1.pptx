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techmo0/GoCue" TargetMode="External"/><Relationship Id="rId4" Type="http://schemas.openxmlformats.org/officeDocument/2006/relationships/hyperlink" Target="https://github.com/users/techmo0/projects/1/views/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612648"/>
            <a:ext cx="1700784" cy="1380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5568" y="795528"/>
            <a:ext cx="85039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ФГБОУ ВО «СибАДИ» · Кафедра «Цифровые технологии»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115568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384"/>
                </a:solidFill>
                <a:latin typeface="Arial"/>
              </a:rPr>
              <a:t>Проектный практикум · 09.03.03 «Прикладная информатика» · 7 семестр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568" y="2221992"/>
            <a:ext cx="2697480" cy="356616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21992"/>
            <a:ext cx="2551176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Контрольная точка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713232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2B71B2"/>
                </a:solidFill>
                <a:latin typeface="Arial"/>
              </a:rPr>
              <a:t>GoCue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621024"/>
            <a:ext cx="85039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C364E"/>
                </a:solidFill>
                <a:latin typeface="Arial"/>
              </a:rPr>
              <a:t>Дела вспоминаются там,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C364E"/>
                </a:solidFill>
                <a:latin typeface="Arial"/>
              </a:rPr>
              <a:t>где их можно сделать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" y="5074920"/>
            <a:ext cx="10259568" cy="13716"/>
          </a:xfrm>
          <a:prstGeom prst="rect">
            <a:avLst/>
          </a:prstGeom>
          <a:solidFill>
            <a:srgbClr val="D7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29437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384"/>
                </a:solidFill>
                <a:latin typeface="Arial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555955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3041"/>
                </a:solidFill>
                <a:latin typeface="Arial"/>
              </a:rPr>
              <a:t>«Диалог» · ПИб-23Э1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5294376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384"/>
                </a:solidFill>
                <a:latin typeface="Arial"/>
              </a:rPr>
              <a:t>Участники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5559552"/>
            <a:ext cx="5806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3041"/>
                </a:solidFill>
                <a:latin typeface="Arial"/>
              </a:rPr>
              <a:t>Бартоломей А. М. · Боровик Ф. И.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03041"/>
                </a:solidFill>
                <a:latin typeface="Arial"/>
              </a:rPr>
              <a:t>Золотилина Е. С. · Поспелова М. 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55595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03041"/>
                </a:solidFill>
                <a:latin typeface="Arial"/>
              </a:rPr>
              <a:t>Омск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01 · О ПРОЕКТЕ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Проблема: дело известно, момент упущен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02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91056"/>
            <a:ext cx="10561320" cy="932688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92224"/>
            <a:ext cx="100126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364E"/>
                </a:solidFill>
                <a:latin typeface="Arial"/>
              </a:rPr>
              <a:t>«Купить батарейки» записано — но вспоминается уже после магазина.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52344"/>
            <a:ext cx="3337560" cy="226771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53512"/>
            <a:ext cx="2880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Кому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74136"/>
            <a:ext cx="288036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041"/>
                </a:solidFill>
                <a:latin typeface="Arial"/>
              </a:rPr>
              <a:t>Людям с бытовыми поручениями: покупками, аптекой, почтой.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2752344"/>
            <a:ext cx="3337560" cy="226771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953512"/>
            <a:ext cx="2880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Почему это происходит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374136"/>
            <a:ext cx="288036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Список надо открыть самому; время напоминания не совпадает с посещением места.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2752344"/>
            <a:ext cx="3337560" cy="226771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2953512"/>
            <a:ext cx="2880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Последствие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3374136"/>
            <a:ext cx="288036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041"/>
                </a:solidFill>
                <a:latin typeface="Arial"/>
              </a:rPr>
              <a:t>Забытое дело, повторный визит или лишняя поездка.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94376"/>
            <a:ext cx="10543032" cy="512064"/>
          </a:xfrm>
          <a:prstGeom prst="roundRect">
            <a:avLst>
              <a:gd name="adj" fmla="val 12000"/>
            </a:avLst>
          </a:prstGeom>
          <a:solidFill>
            <a:srgbClr val="FC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294376"/>
            <a:ext cx="1039672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D6E1C"/>
                </a:solidFill>
                <a:latin typeface="Arial"/>
              </a:rPr>
              <a:t>Это продуктовая гипотеза; проверка сценариев с добровольцами запланирована (#13).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02 · 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Кто за что отвечает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71016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384"/>
                </a:solidFill>
                <a:latin typeface="Arial"/>
              </a:rPr>
              <a:t>Роли назначены; вклад каждого в ЛР 1 подтверждается отдельно.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03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5084064" cy="166420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84248"/>
            <a:ext cx="46268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Бартоломей Андрей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04872"/>
            <a:ext cx="4626864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Менеджер проекта · аналитик · техписатель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Требования, приоритеты, план и документация.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783080"/>
            <a:ext cx="5230368" cy="166420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984248"/>
            <a:ext cx="4773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Боровик Фёдор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404872"/>
            <a:ext cx="477316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Разработчик · техписатель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Правила показа намерений и техническая документация.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66744"/>
            <a:ext cx="5084064" cy="166420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67911"/>
            <a:ext cx="46268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Золотилина Екатерина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626864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Разработчик · дизайнер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Экраны добавления, выбора места и просмотра дел.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666744"/>
            <a:ext cx="5230368" cy="166420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867911"/>
            <a:ext cx="47731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Поспелова Магдалина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288536"/>
            <a:ext cx="4773168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Разработчик · тестировщик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Уведомления и проверки сценариев визита.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41848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Решения по архитектуре разработчики принимают совместно; ведущий итерации определяется командой.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03 ·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Не время. Контекст.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04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561320" cy="914400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64792"/>
            <a:ext cx="996696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GoCue возвращает намерение, когда пользователь действительно может действовать.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2450592" cy="1865376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6696" y="2953512"/>
            <a:ext cx="475488" cy="438912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953512"/>
            <a:ext cx="3291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529584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71B2"/>
                </a:solidFill>
                <a:latin typeface="Arial"/>
              </a:rPr>
              <a:t>Записать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3950208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«Купить туалетную бумагу»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3364992"/>
            <a:ext cx="201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B71B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2152" y="2788920"/>
            <a:ext cx="2450592" cy="1865376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75888" y="2953512"/>
            <a:ext cx="475488" cy="438912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2953512"/>
            <a:ext cx="3291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3529584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71B2"/>
                </a:solidFill>
                <a:latin typeface="Arial"/>
              </a:rPr>
              <a:t>Выбрать контекст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3950208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MY_SUPERMARKET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364992"/>
            <a:ext cx="201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B71B2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2788920"/>
            <a:ext cx="2450592" cy="1865376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2953512"/>
            <a:ext cx="475488" cy="438912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953512"/>
            <a:ext cx="3291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29584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71B2"/>
                </a:solidFill>
                <a:latin typeface="Arial"/>
              </a:rPr>
              <a:t>Определить визит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50208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Вход → выдержка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3364992"/>
            <a:ext cx="2011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B71B2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0536" y="2788920"/>
            <a:ext cx="2450592" cy="1865376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34272" y="2953512"/>
            <a:ext cx="475488" cy="438912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424" y="2953512"/>
            <a:ext cx="3291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3529584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71B2"/>
                </a:solidFill>
                <a:latin typeface="Arial"/>
              </a:rPr>
              <a:t>Сделать дело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3950208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Один список на визит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20056"/>
            <a:ext cx="10543032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64E"/>
                </a:solidFill>
                <a:latin typeface="Arial"/>
              </a:rPr>
              <a:t>Отличие от списка дел и напоминания по времени: семантическое место, подтверждённый визит, группировка и отсутствие дублей в одном визите.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03 ·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Как поймём, что GoCue полезен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71016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384"/>
                </a:solidFill>
                <a:latin typeface="Arial"/>
              </a:rPr>
              <a:t>Базовые значения пока не измерены — ниже целевые критерии испытаний.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05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92224"/>
            <a:ext cx="3364992" cy="340156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011680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71B2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752344"/>
            <a:ext cx="28803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64E"/>
                </a:solidFill>
                <a:latin typeface="Arial"/>
              </a:rPr>
              <a:t>ложных сигналов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3227832"/>
            <a:ext cx="286207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при 20 симулированных проходах и проездах мимо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4206240"/>
            <a:ext cx="2880360" cy="10972"/>
          </a:xfrm>
          <a:prstGeom prst="rect">
            <a:avLst/>
          </a:prstGeom>
          <a:solidFill>
            <a:srgbClr val="D7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4416552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Автотесты + проверка на устройстве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792224"/>
            <a:ext cx="3364992" cy="340156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71B2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52344"/>
            <a:ext cx="28803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64E"/>
                </a:solidFill>
                <a:latin typeface="Arial"/>
              </a:rPr>
              <a:t>дублей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27832"/>
            <a:ext cx="286207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в одном визите после переоценки и перезапуска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4296" y="4206240"/>
            <a:ext cx="2880360" cy="10972"/>
          </a:xfrm>
          <a:prstGeom prst="rect">
            <a:avLst/>
          </a:prstGeom>
          <a:solidFill>
            <a:srgbClr val="D7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416552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Тест восстановления состояния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792224"/>
            <a:ext cx="3364992" cy="3401568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2011680"/>
            <a:ext cx="2880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B71B2"/>
                </a:solidFill>
                <a:latin typeface="Arial"/>
              </a:rPr>
              <a:t>≤ 10 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2752344"/>
            <a:ext cx="28803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64E"/>
                </a:solidFill>
                <a:latin typeface="Arial"/>
              </a:rPr>
              <a:t>на запись дела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3227832"/>
            <a:ext cx="286207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медиана в 10 сценариях с добровольцами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57031" y="4206240"/>
            <a:ext cx="2880360" cy="10972"/>
          </a:xfrm>
          <a:prstGeom prst="rect">
            <a:avLst/>
          </a:prstGeom>
          <a:solidFill>
            <a:srgbClr val="D7E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4416552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Ориентир продукта — 2–3 секунды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04 · УСТАВ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Цель и границы MVP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06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08760"/>
            <a:ext cx="10561320" cy="859536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91640"/>
            <a:ext cx="100584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364E"/>
                </a:solidFill>
                <a:latin typeface="Arial"/>
              </a:rPr>
              <a:t>Показать Android-прототип: от записи дела до одного уместного уведомления за визит.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42616"/>
            <a:ext cx="5111496" cy="2660904"/>
          </a:xfrm>
          <a:prstGeom prst="roundRect">
            <a:avLst>
              <a:gd name="adj" fmla="val 12000"/>
            </a:avLst>
          </a:prstGeom>
          <a:solidFill>
            <a:srgbClr val="E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43784"/>
            <a:ext cx="4654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7F6C"/>
                </a:solidFill>
                <a:latin typeface="Arial"/>
              </a:rPr>
              <a:t>Входит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64408"/>
            <a:ext cx="465429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• намерения и семантические места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• ручной MY_SUPERMARKET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• подтверждение визита и общий список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• «Напомнить в следующий визит»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• локальные события и симулятор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642616"/>
            <a:ext cx="5184648" cy="2660904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843784"/>
            <a:ext cx="4727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Не входит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264408"/>
            <a:ext cx="4727448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• маршруты и поиск магазинов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• облачный аккаунт и сервер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• LLM и распознавание текста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• погода, календарь, часы работы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• автоматическое определение дома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59552"/>
            <a:ext cx="10497312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Целевой срок — 12-я неделя 8-го семестра; календарные даты сверяются с дорожной картой курса.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04 · УСТАВ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Вехи и риски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07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91056"/>
            <a:ext cx="2450592" cy="1225296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46504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КТ1 · сейчас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075688"/>
            <a:ext cx="2112264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Тема, Vision, устав, бэклог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1591056"/>
            <a:ext cx="2450592" cy="1225296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1746504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71B2"/>
                </a:solidFill>
                <a:latin typeface="Arial"/>
              </a:rPr>
              <a:t>КТ2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075688"/>
            <a:ext cx="2112264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Симулятор и логика визитов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91056"/>
            <a:ext cx="2450592" cy="1225296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46504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71B2"/>
                </a:solidFill>
                <a:latin typeface="Arial"/>
              </a:rPr>
              <a:t>КТ3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75688"/>
            <a:ext cx="2112264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Одна реальная геозона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591056"/>
            <a:ext cx="2450592" cy="1225296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3416" y="1746504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71B2"/>
                </a:solidFill>
                <a:latin typeface="Arial"/>
              </a:rPr>
              <a:t>КТ4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2075688"/>
            <a:ext cx="2112264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Показ, документация, релиз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9067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71B2"/>
                </a:solidFill>
                <a:latin typeface="Arial"/>
              </a:rPr>
              <a:t>Ключевые риски и ответ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29584"/>
            <a:ext cx="10552176" cy="59436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675887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364E"/>
                </a:solidFill>
                <a:latin typeface="Arial"/>
              </a:rPr>
              <a:t>Событие геозоны задержится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675887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Сначала симулятор, затем тест на Galaxy S25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251960"/>
            <a:ext cx="10552176" cy="59436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39826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364E"/>
                </a:solidFill>
                <a:latin typeface="Arial"/>
              </a:rPr>
              <a:t>Проезд мимо вызовет ложный сигнал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4398264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CANDIDATE → выдержка → CONFIRMED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974336"/>
            <a:ext cx="10552176" cy="59436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51206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364E"/>
                </a:solidFill>
                <a:latin typeface="Arial"/>
              </a:rPr>
              <a:t>Перезапуск создаст дубль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120640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Хранить визит и ключ уведомления локально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04 · УСТАВ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Состояние задач КТ1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71016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384"/>
                </a:solidFill>
                <a:latin typeface="Arial"/>
              </a:rPr>
              <a:t>Состояние доски GitHub Projects на 15.10.2026; проценты готовности не выдумываем.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08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82496"/>
            <a:ext cx="1938528" cy="804672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1051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0312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3 задачи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1682496"/>
            <a:ext cx="1938528" cy="804672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1" y="181051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1" y="210312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2 задачи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1682496"/>
            <a:ext cx="1938528" cy="804672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4376" y="181051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210312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1 задачи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1682496"/>
            <a:ext cx="1938528" cy="804672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81051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In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10312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3 задачи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54896" y="1682496"/>
            <a:ext cx="1938528" cy="80467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181051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Backlog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344" y="210312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5 задачи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2761488"/>
            <a:ext cx="10552176" cy="466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284378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#2–#4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2843784"/>
            <a:ext cx="6629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Тема, репозиторий, доска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843784"/>
            <a:ext cx="15179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384"/>
                </a:solidFill>
                <a:latin typeface="Arial"/>
              </a:rPr>
              <a:t>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35584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#5, #7, #9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3355848"/>
            <a:ext cx="6629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Vision, устав, политика 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355848"/>
            <a:ext cx="15179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384"/>
                </a:solidFill>
                <a:latin typeface="Arial"/>
              </a:rPr>
              <a:t>In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785616"/>
            <a:ext cx="10552176" cy="466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86791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#1, #8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3867912"/>
            <a:ext cx="6629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Матрица и рабочие соглашения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867912"/>
            <a:ext cx="15179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384"/>
                </a:solidFill>
                <a:latin typeface="Arial"/>
              </a:rPr>
              <a:t>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37997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#10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4379976"/>
            <a:ext cx="6629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Отчёт и сдача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4379976"/>
            <a:ext cx="15179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384"/>
                </a:solidFill>
                <a:latin typeface="Arial"/>
              </a:rPr>
              <a:t>In progress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809744"/>
            <a:ext cx="10552176" cy="466344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8920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71B2"/>
                </a:solidFill>
                <a:latin typeface="Arial"/>
              </a:rPr>
              <a:t>#6, #11–#14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87168" y="4892040"/>
            <a:ext cx="6629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3041"/>
                </a:solidFill>
                <a:latin typeface="Arial"/>
              </a:rPr>
              <a:t>Рецензия, ретро, доступ, коммиты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892040"/>
            <a:ext cx="15179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384"/>
                </a:solidFill>
                <a:latin typeface="Arial"/>
              </a:rPr>
              <a:t>Backlog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678424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Всего 18 задач: 14 для ЛР 1 и 4 на следующую итерацию.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05 ·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Пять обязательных правил MVP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09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36776"/>
            <a:ext cx="3364992" cy="1700784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1819656"/>
            <a:ext cx="52120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71B2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10512"/>
            <a:ext cx="2313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364E"/>
                </a:solidFill>
                <a:latin typeface="Arial"/>
              </a:rPr>
              <a:t>Намерение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322576"/>
            <a:ext cx="292608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Создать, изменить, завершить или архивировать дело.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36776"/>
            <a:ext cx="3364992" cy="1700784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19656"/>
            <a:ext cx="52120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71B2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1810512"/>
            <a:ext cx="2313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364E"/>
                </a:solidFill>
                <a:latin typeface="Arial"/>
              </a:rPr>
              <a:t>Место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322576"/>
            <a:ext cx="292608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Привязать MY_SUPERMARKET к выбранному магазину.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636776"/>
            <a:ext cx="3364992" cy="1700784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819656"/>
            <a:ext cx="52120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71B2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1810512"/>
            <a:ext cx="2313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364E"/>
                </a:solidFill>
                <a:latin typeface="Arial"/>
              </a:rPr>
              <a:t>Визит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322576"/>
            <a:ext cx="292608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Не уведомлять на сыром входе в геозону.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11880"/>
            <a:ext cx="3364992" cy="1700784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794760"/>
            <a:ext cx="52120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71B2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785616"/>
            <a:ext cx="2313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364E"/>
                </a:solidFill>
                <a:latin typeface="Arial"/>
              </a:rPr>
              <a:t>Группа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4297680"/>
            <a:ext cx="292608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Показать связанные дела одним уведомлением.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611880"/>
            <a:ext cx="3364992" cy="1700784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794760"/>
            <a:ext cx="521207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B71B2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3785616"/>
            <a:ext cx="2313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364E"/>
                </a:solidFill>
                <a:latin typeface="Arial"/>
              </a:rPr>
              <a:t>Следующий визит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297680"/>
            <a:ext cx="2926080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Подавить повтор сейчас, вернуть дело позже.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1" y="3611880"/>
            <a:ext cx="3364992" cy="1700784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3840480"/>
            <a:ext cx="2926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Инвариант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4343400"/>
            <a:ext cx="288036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Одно контекстное уведомление на группу дел за подтверждённый визит.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05 ·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Ключевые пользовательские истории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10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10552176" cy="1133856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1819656"/>
            <a:ext cx="603504" cy="576072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19656"/>
            <a:ext cx="457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1746504"/>
            <a:ext cx="9052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71B2"/>
                </a:solidFill>
                <a:latin typeface="Arial"/>
              </a:rPr>
              <a:t>Когда я записываю покупку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5376" y="2112264"/>
            <a:ext cx="90525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я выбираю MY_SUPERMARKET, чтобы не указывать координаты в каждом деле.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35224"/>
            <a:ext cx="10552176" cy="1133856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3182112"/>
            <a:ext cx="603504" cy="576072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82112"/>
            <a:ext cx="457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3108960"/>
            <a:ext cx="9052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71B2"/>
                </a:solidFill>
                <a:latin typeface="Arial"/>
              </a:rPr>
              <a:t>Когда я остановился у магазина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5376" y="3474720"/>
            <a:ext cx="90525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я получаю один список всех подходящих дел — не уведомление на каждый пункт.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97680"/>
            <a:ext cx="10552176" cy="1133856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4544568"/>
            <a:ext cx="603504" cy="576072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44568"/>
            <a:ext cx="4572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5376" y="4471416"/>
            <a:ext cx="9052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B71B2"/>
                </a:solidFill>
                <a:latin typeface="Arial"/>
              </a:rPr>
              <a:t>Когда не могу сделать дело сейчас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4837176"/>
            <a:ext cx="90525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041"/>
                </a:solidFill>
                <a:latin typeface="Arial"/>
              </a:rPr>
              <a:t>я выбираю «Напомнить в следующий визит» и не получаю дублей сегодня.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97296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Критерии приёмки: правильный контекст, подтверждённый визит, отсутствие дублей, сохранение состояния.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05 ·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Нефункциональные требования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18488"/>
            <a:ext cx="5102352" cy="178308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18488"/>
            <a:ext cx="64008" cy="1783080"/>
          </a:xfrm>
          <a:prstGeom prst="rect">
            <a:avLst/>
          </a:prstGeom>
          <a:solidFill>
            <a:srgbClr val="237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9656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Приватность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40280"/>
            <a:ext cx="46451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041"/>
                </a:solidFill>
                <a:latin typeface="Arial"/>
              </a:rPr>
              <a:t>Локальные данные.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041"/>
                </a:solidFill>
                <a:latin typeface="Arial"/>
              </a:rPr>
              <a:t>Без аккаунта, сервера и LLM.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18488"/>
            <a:ext cx="5102352" cy="178308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18488"/>
            <a:ext cx="64008" cy="1783080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819656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Надёжность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240280"/>
            <a:ext cx="46451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041"/>
                </a:solidFill>
                <a:latin typeface="Arial"/>
              </a:rPr>
              <a:t>Визит, завершённые дела и подавление переживают перезапуск.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48456"/>
            <a:ext cx="5102352" cy="178308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648456"/>
            <a:ext cx="64008" cy="1783080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849624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Тишина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70248"/>
            <a:ext cx="46451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041"/>
                </a:solidFill>
                <a:latin typeface="Arial"/>
              </a:rPr>
              <a:t>Нет сигнала при кратком проезде и повтора в одном визите.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648456"/>
            <a:ext cx="5102352" cy="1783080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648456"/>
            <a:ext cx="64008" cy="1783080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849624"/>
            <a:ext cx="46451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Контроль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270248"/>
            <a:ext cx="46451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041"/>
                </a:solidFill>
                <a:latin typeface="Arial"/>
              </a:rPr>
              <a:t>Понятные разрешения, журнал событий и экран симуляции.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69864"/>
            <a:ext cx="105156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При отключённой фоновой геолокации дела остаются доступными, но автоматический показ недоступен.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05 ·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Как будет выглядеть полезный момент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71016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384"/>
                </a:solidFill>
                <a:latin typeface="Arial"/>
              </a:rPr>
              <a:t>Концепт ключевого экрана; работающий прототип ещё не готов.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12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618488"/>
            <a:ext cx="4069080" cy="4224528"/>
          </a:xfrm>
          <a:prstGeom prst="roundRect">
            <a:avLst>
              <a:gd name="adj" fmla="val 12000"/>
            </a:avLst>
          </a:prstGeom>
          <a:solidFill>
            <a:srgbClr val="1C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70432" y="1773936"/>
            <a:ext cx="3831336" cy="3849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30552" y="1865376"/>
            <a:ext cx="1920240" cy="283464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3704" y="1865376"/>
            <a:ext cx="1773936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B71B2"/>
                </a:solidFill>
                <a:latin typeface="Arial"/>
              </a:rPr>
              <a:t>GO CUE · ВИЗИТ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414016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364E"/>
                </a:solidFill>
                <a:latin typeface="Arial"/>
              </a:rPr>
              <a:t>Мой магазин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2944368"/>
            <a:ext cx="30632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041"/>
                </a:solidFill>
                <a:latin typeface="Arial"/>
              </a:rPr>
              <a:t>□ Туалетная бумага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041"/>
                </a:solidFill>
                <a:latin typeface="Arial"/>
              </a:rPr>
              <a:t>□ Молоко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041"/>
                </a:solidFill>
                <a:latin typeface="Arial"/>
              </a:rPr>
              <a:t>□ Батарейки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1328" y="4690872"/>
            <a:ext cx="1197864" cy="420624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690872"/>
            <a:ext cx="1051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Готово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0632" y="4690872"/>
            <a:ext cx="1883664" cy="420624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43784" y="4690872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B71B2"/>
                </a:solidFill>
                <a:latin typeface="Arial"/>
              </a:rPr>
              <a:t>В следующий визит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1764792"/>
            <a:ext cx="5650992" cy="107899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965960"/>
            <a:ext cx="5193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Не сразу при входе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386584"/>
            <a:ext cx="519379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Сначала кандидат на визит; уведомление после выдержки.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3054096"/>
            <a:ext cx="5650992" cy="107899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3255264"/>
            <a:ext cx="5193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Не три разных сигнала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675887"/>
            <a:ext cx="519379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Все подходящие дела объединены в один список.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4343400"/>
            <a:ext cx="5650992" cy="107899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544568"/>
            <a:ext cx="5193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Не повторять в этот визит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965192"/>
            <a:ext cx="519379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Завершить дело или отложить до следующего визита.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5596128"/>
            <a:ext cx="5650992" cy="530352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16168" y="5696712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2B71B2"/>
                </a:solidFill>
                <a:latin typeface="Arial"/>
              </a:rPr>
              <a:t>Виджет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5641848"/>
            <a:ext cx="423367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203041"/>
                </a:solidFill>
                <a:latin typeface="Arial"/>
              </a:rPr>
              <a:t>Список на главном экране; сам не всплывает — при визите нужно уведомление.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06 · ПРОЕКТНЫЕ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Контекст отделён от GPS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01952"/>
            <a:ext cx="1929384" cy="149047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48840"/>
            <a:ext cx="164592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364E"/>
                </a:solidFill>
                <a:latin typeface="Arial"/>
              </a:rPr>
              <a:t>ОС / геозона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743200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сырой вход и выход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59736"/>
            <a:ext cx="192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1B2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0088" y="1901952"/>
            <a:ext cx="1929384" cy="149047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148840"/>
            <a:ext cx="164592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364E"/>
                </a:solidFill>
                <a:latin typeface="Arial"/>
              </a:rPr>
              <a:t>Presence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743200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кандидат → визит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459736"/>
            <a:ext cx="192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1B2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1901952"/>
            <a:ext cx="1929384" cy="149047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148840"/>
            <a:ext cx="164592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364E"/>
                </a:solidFill>
                <a:latin typeface="Arial"/>
              </a:rPr>
              <a:t>Context Snapshot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43200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нормализованное состояние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459736"/>
            <a:ext cx="192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1B2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1901952"/>
            <a:ext cx="1929384" cy="1490472"/>
          </a:xfrm>
          <a:prstGeom prst="roundRect">
            <a:avLst>
              <a:gd name="adj" fmla="val 12000"/>
            </a:avLst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148840"/>
            <a:ext cx="164592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Intent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2743200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проверка требований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459736"/>
            <a:ext cx="192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B71B2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91472" y="1901952"/>
            <a:ext cx="1929384" cy="149047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2148840"/>
            <a:ext cx="164592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364E"/>
                </a:solidFill>
                <a:latin typeface="Arial"/>
              </a:rPr>
              <a:t>Уведомление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7776" y="2743200"/>
            <a:ext cx="1645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384"/>
                </a:solidFill>
                <a:latin typeface="Arial"/>
              </a:rPr>
              <a:t>одна группа за визит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877056"/>
            <a:ext cx="10552176" cy="813816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4096512"/>
            <a:ext cx="100309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64E"/>
                </a:solidFill>
                <a:latin typeface="Arial"/>
              </a:rPr>
              <a:t>Логика намерений не получает координаты GPS — только подтверждённый контекст.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65776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041"/>
                </a:solidFill>
                <a:latin typeface="Arial"/>
              </a:rPr>
              <a:t>Платформа: нативный Android. Хранение: локально. Сначала детерминированные правила и симулятор; после этого — одна реальная геозона на Samsung Galaxy S25.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364E"/>
                </a:solidFill>
                <a:latin typeface="Arial"/>
              </a:rPr>
              <a:t>07 · ИТОГИ КТ1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22376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B71B2"/>
                </a:solidFill>
                <a:latin typeface="Arial"/>
              </a:rPr>
              <a:t>План есть. Дальше — подтвердить и проверить.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6345936"/>
            <a:ext cx="813816" cy="4480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382512"/>
            <a:ext cx="5943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384"/>
                </a:solidFill>
                <a:latin typeface="Arial"/>
              </a:rPr>
              <a:t>14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55064"/>
            <a:ext cx="5084064" cy="3227832"/>
          </a:xfrm>
          <a:prstGeom prst="roundRect">
            <a:avLst>
              <a:gd name="adj" fmla="val 12000"/>
            </a:avLst>
          </a:prstGeom>
          <a:solidFill>
            <a:srgbClr val="E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56232"/>
            <a:ext cx="46268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7F6C"/>
                </a:solidFill>
                <a:latin typeface="Arial"/>
              </a:rPr>
              <a:t>Уже есть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76856"/>
            <a:ext cx="4626864" cy="2450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✓ согласованная тема GoCue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✓ Android как платформа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✓ репозиторий и спецификация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✓ доска: 18 назначенных задач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✓ отчёт ЛР 1 в DOCX и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55064"/>
            <a:ext cx="5184648" cy="322783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56232"/>
            <a:ext cx="4727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Ещё подтвердить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76856"/>
            <a:ext cx="4727448" cy="2450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□ рецензия другой команды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□ ретроспектива и личные коммиты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□ доступ преподавателя к доске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□ мини-защита и загрузка на портал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041"/>
                </a:solidFill>
                <a:latin typeface="Arial"/>
              </a:rPr>
              <a:t>□ испытания прототипа и геозоны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84648"/>
            <a:ext cx="10552176" cy="566928"/>
          </a:xfrm>
          <a:prstGeom prst="roundRect">
            <a:avLst>
              <a:gd name="adj" fmla="val 12000"/>
            </a:avLst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5321808"/>
            <a:ext cx="99943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B71B2"/>
                </a:solidFill>
                <a:latin typeface="Arial"/>
              </a:rPr>
              <a:t>Следующий инженерный шаг: логика без GPS → симулятор → проверка в реальном месте.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79592"/>
            <a:ext cx="6492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71B2"/>
                </a:solidFill>
                <a:latin typeface="Arial"/>
                <a:hlinkClick r:id="rId3"/>
              </a:rPr>
              <a:t>github.com/techmo0/GoCue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7224" y="587959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384"/>
                </a:solidFill>
                <a:latin typeface="Arial"/>
                <a:hlinkClick r:id="rId4"/>
              </a:rPr>
              <a:t>Доска GitHub Projects · private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GoCue — защита контрольной точки 1</dc:title>
  <dc:subject>Проектный практикум · команда Диалог</dc:subject>
  <dc:creator>Команда «Диалог»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